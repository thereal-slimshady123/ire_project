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fd580cc3-98be-407b-97af-b5bc0b64e270.fntdata" /><ns0:Relationship Id="rIdFont19" Type="http://schemas.openxmlformats.org/officeDocument/2006/relationships/font" Target="fonts/52e299b0-1db8-4b7c-a43e-6cf3059eadea.fntdata" /><ns0:Relationship Id="rIdFont20" Type="http://schemas.openxmlformats.org/officeDocument/2006/relationships/font" Target="fonts/6fd94d52-ad56-4669-af8e-930461db37c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73773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7454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INFORMATION RETRIEVAL RESEARCH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5065"/>
            <a:ext cx="114300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Query Routing for Hybrid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63230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Confidence-based selection among BM25, dense, hybrid, and cross-encoder escalation.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4392810"/>
            <a:ext cx="6512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Selective Classification • Latency-Bounded Reranking • BEIR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78459"/>
            <a:ext cx="5448300" cy="2579191"/>
          </a:xfrm>
          <a:prstGeom prst="roundRect">
            <a:avLst>
              <a:gd name="adj" fmla="val 443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2977455"/>
            <a:ext cx="47625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3634680"/>
            <a:ext cx="4762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0" y="4491930"/>
            <a:ext cx="47625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0" y="2977455"/>
            <a:ext cx="28575" cy="4667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0" y="3634680"/>
            <a:ext cx="28575" cy="666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0" y="4491930"/>
            <a:ext cx="28575" cy="4667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MOTIVATION &amp;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The Limitations of Static Hybrid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021359"/>
            <a:ext cx="595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THE CURRENT STATUS QUO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297584"/>
            <a:ext cx="4857750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Uniform fusion treats fundamentally different queries identically.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143226"/>
            <a:ext cx="48577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Keyword-heavy queries demand exact sparse matching. Paraphrases require semantic vectors. Static combinations compromise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2977455"/>
            <a:ext cx="53054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Static Weight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3244155"/>
            <a:ext cx="5305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 single fixed α harms extreme queries.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3634680"/>
            <a:ext cx="53054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Universal Reranking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6575" y="3901380"/>
            <a:ext cx="4638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Cross-encoders everywhere is computationally prohibitive.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6575" y="4491930"/>
            <a:ext cx="53054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LLM Router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6575" y="4758630"/>
            <a:ext cx="5305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Online LLM calls add excessive query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96530"/>
            <a:ext cx="24955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3196530"/>
            <a:ext cx="24955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191767"/>
            <a:ext cx="24955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3196530"/>
            <a:ext cx="24955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CORE POSTULATES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Four Testable Research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501330"/>
            <a:ext cx="254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48980"/>
            <a:ext cx="26753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Ranking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072830"/>
            <a:ext cx="2133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Statistically superior nDCG@10 over fixed 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3501330"/>
            <a:ext cx="254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0" y="3748980"/>
            <a:ext cx="26753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Preserved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4072830"/>
            <a:ext cx="2133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Recall@100 parity with dense-sparse union.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496567"/>
            <a:ext cx="254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744217"/>
            <a:ext cx="26753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Pareto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068067"/>
            <a:ext cx="21336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90% reranker quality with ≤10% escalation.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3050" y="3501330"/>
            <a:ext cx="254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H4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3050" y="3748980"/>
            <a:ext cx="267533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Latency 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3050" y="4072830"/>
            <a:ext cx="2133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Near-hybrid runtime without LLM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2000" y="2677417"/>
          <a:ext cx="10667999" cy="25431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16981"/>
                <a:gridCol w="2634853"/>
                <a:gridCol w="3534519"/>
                <a:gridCol w="1981646"/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Adaptivity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Escalation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Online Overhead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DAT (2025)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LLM top-1 evaluator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C2626"/>
                          </a:solidFill>
                          <a:latin typeface="Inter"/>
                        </a:rPr>
                        <a:t>High (LLM call)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Query-Adaptive (2026)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Continuous α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Inter"/>
                        </a:rPr>
                        <a:t>Low (Latent MLP)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Adaptive-RAG (2024)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RAG strategy classifier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Multi-step retrieval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D4ED8"/>
                          </a:solidFill>
                          <a:latin typeface="Inter"/>
                        </a:rPr>
                        <a:t>Our 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Inter"/>
                        </a:rPr>
                        <a:t>Discrete 3-way route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40AF"/>
                          </a:solidFill>
                          <a:latin typeface="Inter"/>
                        </a:rPr>
                        <a:t>Confidence-based Cross-Encoder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Inter"/>
                        </a:rPr>
                        <a:t>Minimal (≤5ms)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RELATED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Differentiation Against Prior Paradigms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15555"/>
            <a:ext cx="22479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2350" y="3115567"/>
            <a:ext cx="22479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62700" y="3115567"/>
            <a:ext cx="22479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3050" y="3106042"/>
            <a:ext cx="2266950" cy="1762125"/>
          </a:xfrm>
          <a:prstGeom prst="roundRect">
            <a:avLst>
              <a:gd name="adj" fmla="val 648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5450" y="328225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5800" y="338226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96150" y="338226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06025" y="338226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891855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389185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3891855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End-to-End Routing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2575" y="328225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796" y="3815655"/>
            <a:ext cx="245030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Dual Candidate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37" y="4291905"/>
            <a:ext cx="2333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Parallel BM25 and dense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925" y="338226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1146" y="3915667"/>
            <a:ext cx="245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Signal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9487" y="4191892"/>
            <a:ext cx="2333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Jaccard overlap and score entropy.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3275" y="338226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1496" y="3915667"/>
            <a:ext cx="245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Lightweight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9837" y="4191892"/>
            <a:ext cx="2333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Predicts BM25, dense, or hybrid.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3150" y="3382267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1371" y="3915667"/>
            <a:ext cx="245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40AF"/>
                </a:solidFill>
                <a:latin typeface="Inter"/>
              </a:rPr>
              <a:t>Selective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9712" y="4191892"/>
            <a:ext cx="2333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B82F6"/>
                </a:solidFill>
                <a:latin typeface="Inter"/>
              </a:rPr>
              <a:t>Cross-encoder for low confidence.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48867"/>
            <a:ext cx="5890319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09519" y="2777430"/>
            <a:ext cx="432048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09519" y="3634680"/>
            <a:ext cx="432048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09519" y="4491930"/>
            <a:ext cx="432048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09519" y="2777430"/>
            <a:ext cx="28575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09519" y="3634680"/>
            <a:ext cx="28575" cy="666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09519" y="4491930"/>
            <a:ext cx="28575" cy="666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67992"/>
            <a:ext cx="5280719" cy="723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841" y="3668017"/>
            <a:ext cx="3284636" cy="323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FORMULATION &amp;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Confidence Gating &amp; Margin-Based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153667"/>
            <a:ext cx="660089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ESCALATION 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382392"/>
            <a:ext cx="537596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Threshold τ acts as a direct budget valve controlling escalation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0494" y="2891730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Margin-Based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494" y="3129855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Winner requires ε margin over runner-up.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0494" y="3748980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Hybrid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494" y="3987105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Sub-ε gaps default to safe hybrid fusion.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0494" y="4606230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Regret-Weighted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494" y="4844355"/>
            <a:ext cx="49015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Penalties scale with nDCG delta.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96480"/>
            <a:ext cx="5162550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696467"/>
            <a:ext cx="5162550" cy="2543175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INPUT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Feature Engineering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3139380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Query-Intrinsic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3039367"/>
            <a:ext cx="5581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Retrieval-Signal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353943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Query Length: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Raw token and character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891855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Rare-Term Density: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Corpus IDF max and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24428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Entity Ratio: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Capitalized proper noun concentration.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596705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OOV Fraction: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Out-of-vocabulary term proportions.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3439417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List Overlap: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Top-k Jaccard intersection.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3791842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Rank Correlation: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Kendall's tau on candidate overlap.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144267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Top-1 Margin: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Score gap to second candidate.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496692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Distribution Shape: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Score entropy across retrieved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4560"/>
            <a:ext cx="10668000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11510"/>
            <a:ext cx="340355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1611510"/>
            <a:ext cx="340355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1611510"/>
            <a:ext cx="340355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88606" y="3445073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70093" y="3445073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EVALUATION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Target BEIR Datasets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840110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SciFact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106810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5,183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383035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Scientific claim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650" y="1840110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NFCorpus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650" y="2106810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3,633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650" y="2383035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Medical terminology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800" y="1840110"/>
            <a:ext cx="39670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FiQA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2106810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57,638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6800" y="2383035"/>
            <a:ext cx="377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Financial question answering.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421260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PRIMARY RANKING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3621285"/>
            <a:ext cx="2714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nDCG@10 • MRR •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137" y="3421260"/>
            <a:ext cx="3309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COVERAGE &amp; BOUNDS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137" y="3621285"/>
            <a:ext cx="3309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Recall@100 • Risk-Coverage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3421260"/>
            <a:ext cx="2369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EFFICIENCY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1625" y="3621285"/>
            <a:ext cx="2369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Mean &amp; p95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3667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53667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53667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COMPARATIVE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Baselines and Experimental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458467"/>
            <a:ext cx="38670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Fusion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763267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Fixed-α grid search and rank-based RRF.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315717"/>
            <a:ext cx="3682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Score-normalized baselines.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2750" y="3458467"/>
            <a:ext cx="38670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Escalation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2750" y="3763267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Random escalation at matched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4315717"/>
            <a:ext cx="3682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Proves router selectivity.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900" y="3458467"/>
            <a:ext cx="38670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Theoretical Bounds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3763267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Always-rerank ceiling and oracle routing.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00" y="4315717"/>
            <a:ext cx="3682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Quantifies theoretical headroom.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58380"/>
            <a:ext cx="51435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758380"/>
            <a:ext cx="51435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EXECUTION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Team Workstreams &amp; De-risking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063180"/>
            <a:ext cx="59507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3-Person Parallel Lanes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063180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Risk Mitigation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44418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Person A: Retrieval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64420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BM25, dense indices, MiniLM backend.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95853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Person B: Labels &amp; Headroom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15855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Per-route nDCG, oracle checks, stats.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47288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Person C: Router &amp; Sweeps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672905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GBM training, confidence τ curves.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44418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Inter"/>
              </a:rPr>
              <a:t>Headroom &lt;2 nDCG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64420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Re-scope datasets at Week-2 milestone.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95853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Inter"/>
              </a:rPr>
              <a:t>Small Query Count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15855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K-fold cross-validation with paired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447288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Inter"/>
              </a:rPr>
              <a:t>Compute Constraint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467290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Sub-60k corpora fit free Colab GPUs.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6262" y="4520505"/>
            <a:ext cx="3419475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5140" y="1956494"/>
            <a:ext cx="2321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SUMMARY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343" y="2280344"/>
            <a:ext cx="1050131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Predictable Quality at Hybrid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68005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principled, budget-tunable routing framework for production retrieval and RAG architectures.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9328" y="4615755"/>
            <a:ext cx="389334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Inter"/>
              </a:rPr>
              <a:t>Questions • Comments • 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