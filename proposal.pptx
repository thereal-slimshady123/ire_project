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fda04130-5e3a-45e8-ab84-823818f6cc1a.fntdata" /><ns0:Relationship Id="rIdFont19" Type="http://schemas.openxmlformats.org/officeDocument/2006/relationships/font" Target="fonts/ff5d21d8-7b75-4cf7-ae6f-6271719322e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405163"/>
            <a:ext cx="3429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43298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RESEARCH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7623"/>
            <a:ext cx="115062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0F172A"/>
                </a:solidFill>
                <a:latin typeface="Inter"/>
              </a:rPr>
              <a:t>Query Routing for Hybrid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73784"/>
            <a:ext cx="7905750" cy="607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Stop reranking everything: let query confidence choose between BM25, dense vectors, and cross-encoders.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4324201"/>
            <a:ext cx="629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Selective Prediction • Controlled Reranking Budget • BEIR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14637"/>
            <a:ext cx="5534025" cy="2171700"/>
          </a:xfrm>
          <a:prstGeom prst="roundRect">
            <a:avLst>
              <a:gd name="adj" fmla="val 43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00825" y="2819400"/>
            <a:ext cx="4905375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00825" y="3590925"/>
            <a:ext cx="4905375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00825" y="4362450"/>
            <a:ext cx="4905375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00825" y="2819400"/>
            <a:ext cx="28575" cy="6191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825" y="3590925"/>
            <a:ext cx="28575" cy="6191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00825" y="4362450"/>
            <a:ext cx="28575" cy="6191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THE CORE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Why Fixed Hybrid Search Falls Short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128962"/>
            <a:ext cx="643830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The Compromise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490912"/>
            <a:ext cx="5000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Exact keywords need raw text matching. Conceptual queries need dense vectors.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157662"/>
            <a:ext cx="5000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Splitting weights down the middle degrades crisp searches without fully saving hard 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0850" y="2819400"/>
            <a:ext cx="5391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Static Weights Hurt Edge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850" y="3057525"/>
            <a:ext cx="4800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One fixed blending ratio cannot fit both error codes and conversational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850" y="3590925"/>
            <a:ext cx="5391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Full Reranking Is Prohibitive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0850" y="3829050"/>
            <a:ext cx="4800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Running cross-encoders over every search overwhelms compute and budget.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0850" y="4362450"/>
            <a:ext cx="5391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LLM Routers Are Too Slow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850" y="4600575"/>
            <a:ext cx="4800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Using an online LLM call to pick weights introduces unacceptable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81337"/>
            <a:ext cx="2562225" cy="1638300"/>
          </a:xfrm>
          <a:prstGeom prst="roundRect">
            <a:avLst>
              <a:gd name="adj" fmla="val 58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38525" y="3081337"/>
            <a:ext cx="2562225" cy="1638300"/>
          </a:xfrm>
          <a:prstGeom prst="roundRect">
            <a:avLst>
              <a:gd name="adj" fmla="val 58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81337"/>
            <a:ext cx="2562225" cy="1638300"/>
          </a:xfrm>
          <a:prstGeom prst="roundRect">
            <a:avLst>
              <a:gd name="adj" fmla="val 58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43975" y="3081337"/>
            <a:ext cx="2562225" cy="1638300"/>
          </a:xfrm>
          <a:prstGeom prst="roundRect">
            <a:avLst>
              <a:gd name="adj" fmla="val 58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CORE POSTULATES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Four Testable Research Hypotheses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357562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595687"/>
            <a:ext cx="28378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Higher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71912"/>
            <a:ext cx="2257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Statistically beats fixed hybrid fusion on nDCG@10 across datasets.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357562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595687"/>
            <a:ext cx="28378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Safe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871912"/>
            <a:ext cx="2257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Matches Recall@100 parity with the full candidate pool without dropping answers.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357562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595687"/>
            <a:ext cx="28378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10% Budget 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871912"/>
            <a:ext cx="2257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Reranking ≤10% of queries captures over 90% of cross-encoder quality gains.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357562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H4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595687"/>
            <a:ext cx="28378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Real-Time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871912"/>
            <a:ext cx="22574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Average query runtime stays near standard hybrid, with zero LLM lag.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2638425"/>
          <a:ext cx="10820398" cy="24860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70670"/>
                <a:gridCol w="3315295"/>
                <a:gridCol w="3198018"/>
                <a:gridCol w="2036415"/>
              </a:tblGrid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Decision 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Escalation 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Latency 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DAT (2025)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LLM evaluates top-1 results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91C1C"/>
                          </a:solidFill>
                          <a:latin typeface="Inter"/>
                        </a:rPr>
                        <a:t>High (slow LLM call)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Query-Adaptive (2026)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Neural continuous weight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5803D"/>
                          </a:solidFill>
                          <a:latin typeface="Inter"/>
                        </a:rPr>
                        <a:t>Fast (Latent MLP)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Adaptive-RAG (2024)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Classifier picks RAG pipeline style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Iterative multi-step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45309"/>
                          </a:solidFill>
                          <a:latin typeface="Inter"/>
                        </a:rPr>
                        <a:t>Moderate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D4ED8"/>
                          </a:solidFill>
                          <a:latin typeface="Inter"/>
                        </a:rPr>
                        <a:t>Our 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40AF"/>
                          </a:solidFill>
                          <a:latin typeface="Inter"/>
                        </a:rPr>
                        <a:t>Fast classifier over surface signals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40AF"/>
                          </a:solidFill>
                          <a:latin typeface="Inter"/>
                        </a:rPr>
                        <a:t>Confidence-based Cross-Encoder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5803D"/>
                          </a:solidFill>
                          <a:latin typeface="Inter"/>
                        </a:rPr>
                        <a:t>Near-Zero (≤5ms)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How This Differs From Existing Approaches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224212"/>
            <a:ext cx="2333625" cy="1390650"/>
          </a:xfrm>
          <a:prstGeom prst="roundRect">
            <a:avLst>
              <a:gd name="adj" fmla="val 68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14725" y="3224212"/>
            <a:ext cx="2333625" cy="1390650"/>
          </a:xfrm>
          <a:prstGeom prst="roundRect">
            <a:avLst>
              <a:gd name="adj" fmla="val 68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43650" y="3224212"/>
            <a:ext cx="2333625" cy="1390650"/>
          </a:xfrm>
          <a:prstGeom prst="roundRect">
            <a:avLst>
              <a:gd name="adj" fmla="val 68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72575" y="3133725"/>
            <a:ext cx="2333625" cy="1571625"/>
          </a:xfrm>
          <a:prstGeom prst="roundRect">
            <a:avLst>
              <a:gd name="adj" fmla="val 606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5" y="3838575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838575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725" y="3838575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The End-to-End Routing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315" y="3481387"/>
            <a:ext cx="246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Inter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700" y="3719512"/>
            <a:ext cx="25878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Quick Lookups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315" y="3995737"/>
            <a:ext cx="24645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Run fast BM25 and dense retrievers in parallel.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9240" y="3481387"/>
            <a:ext cx="246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7625" y="3719512"/>
            <a:ext cx="25878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Read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9240" y="3995737"/>
            <a:ext cx="24645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Inspect query length, term rarity, and result overlap.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165" y="3481387"/>
            <a:ext cx="246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Inter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6550" y="3719512"/>
            <a:ext cx="25878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Fast 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165" y="3995737"/>
            <a:ext cx="24645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Small model routes to BM25, dense, or hybrid in &lt;1ms.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090" y="3390900"/>
            <a:ext cx="246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D4ED8"/>
                </a:solidFill>
                <a:latin typeface="Inter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5475" y="3629025"/>
            <a:ext cx="25878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40AF"/>
                </a:solidFill>
                <a:latin typeface="Inter"/>
              </a:rPr>
              <a:t>Smart 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090" y="3905250"/>
            <a:ext cx="2464593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B82F6"/>
                </a:solidFill>
                <a:latin typeface="Inter"/>
              </a:rPr>
              <a:t>Escalate only low-confidence calls to cross-encoders.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762250"/>
            <a:ext cx="6024562" cy="2276475"/>
          </a:xfrm>
          <a:prstGeom prst="roundRect">
            <a:avLst>
              <a:gd name="adj" fmla="val 41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1362" y="2862262"/>
            <a:ext cx="4414837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91362" y="3605212"/>
            <a:ext cx="4414837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91362" y="4348162"/>
            <a:ext cx="4414837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91362" y="2862262"/>
            <a:ext cx="2857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91362" y="3605212"/>
            <a:ext cx="28575" cy="5905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91362" y="4348162"/>
            <a:ext cx="28575" cy="5905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429000"/>
            <a:ext cx="5395912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801" y="3629025"/>
            <a:ext cx="286256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DECISION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How the Router Makes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076575"/>
            <a:ext cx="70821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The Escalation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267200"/>
            <a:ext cx="5491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The threshold τ works like an exact volume knob: slide it up or down to set your exact GPU and latency budget.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2337" y="2862262"/>
            <a:ext cx="49196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Margin-Based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2337" y="3090862"/>
            <a:ext cx="43291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A retriever is only labeled the winner if it beats competitors by a clear margin.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2337" y="3605212"/>
            <a:ext cx="49196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Safe Hybrid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2337" y="3833812"/>
            <a:ext cx="43291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Close ties default to safe hybrid blending so models don't learn from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2337" y="4348162"/>
            <a:ext cx="49196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Regret-Weighted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2337" y="4576762"/>
            <a:ext cx="432911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Mistakes that cause major drops in answer quality are penalized much more heavily.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14637"/>
            <a:ext cx="5238750" cy="2171700"/>
          </a:xfrm>
          <a:prstGeom prst="roundRect">
            <a:avLst>
              <a:gd name="adj" fmla="val 43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814637"/>
            <a:ext cx="5238750" cy="2171700"/>
          </a:xfrm>
          <a:prstGeom prst="roundRect">
            <a:avLst>
              <a:gd name="adj" fmla="val 43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INPUT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Features the Classifier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128962"/>
            <a:ext cx="60507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Query-Intrinsic Clues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128962"/>
            <a:ext cx="56102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Retrieval Agreement Clues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509962"/>
            <a:ext cx="576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Query Length: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Character count and token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833812"/>
            <a:ext cx="576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Rare-Term Density: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High IDF scores flag technical keywords.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157662"/>
            <a:ext cx="576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Entity Concentration: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Proper nouns and acronym ratios.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481512"/>
            <a:ext cx="576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Out-of-Vocabulary Terms: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Unseen vocabulary frequency.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509962"/>
            <a:ext cx="56102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Candidate Overlap: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Jaccard similarity across top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833812"/>
            <a:ext cx="56102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Rank Correlation: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Kendall's tau on overlapping documents.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157662"/>
            <a:ext cx="56102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Top-1 Margin: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Score gap between rank 1 and rank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4481512"/>
            <a:ext cx="56102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Score Entropy: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How steep or flat the candidate scores look.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95625"/>
            <a:ext cx="10820400" cy="866775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476375"/>
            <a:ext cx="3479750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1476375"/>
            <a:ext cx="3479750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1476375"/>
            <a:ext cx="3479750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95737" y="3357562"/>
            <a:ext cx="9525" cy="3429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3437" y="3357562"/>
            <a:ext cx="9525" cy="3429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EVALUATION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Target BEIR Datasets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1714500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SciFact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1952625"/>
            <a:ext cx="3849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5,183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190750"/>
            <a:ext cx="3849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Scientific claims requiring strict precision.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1714500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NFCorpus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1952625"/>
            <a:ext cx="3849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3,633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2190750"/>
            <a:ext cx="3174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Medical terminology mixed with natural queries.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6325" y="1714500"/>
            <a:ext cx="39656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6325" y="1952625"/>
            <a:ext cx="3849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57,638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6325" y="2190750"/>
            <a:ext cx="3174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Financial question answering with semantic variety.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3333750"/>
            <a:ext cx="245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RANKING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3524250"/>
            <a:ext cx="245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nDCG@10 • MRR •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8725" y="3333750"/>
            <a:ext cx="2976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COVERAGE BOUNDS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725" y="3524250"/>
            <a:ext cx="297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Recall@100 • Risk-Coverage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6425" y="3333750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6425" y="3524250"/>
            <a:ext cx="2119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Mean &amp; p95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28962"/>
            <a:ext cx="3479750" cy="1543050"/>
          </a:xfrm>
          <a:prstGeom prst="roundRect">
            <a:avLst>
              <a:gd name="adj" fmla="val 61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128962"/>
            <a:ext cx="3479750" cy="1543050"/>
          </a:xfrm>
          <a:prstGeom prst="roundRect">
            <a:avLst>
              <a:gd name="adj" fmla="val 617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219450"/>
            <a:ext cx="3479750" cy="1362075"/>
          </a:xfrm>
          <a:prstGeom prst="roundRect">
            <a:avLst>
              <a:gd name="adj" fmla="val 69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Baselines and Experimental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424237"/>
            <a:ext cx="3992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Standard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700462"/>
            <a:ext cx="3136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Tuned fixed-α grid search and rank-based RRF.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195762"/>
            <a:ext cx="3802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The everyday production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5125" y="3424237"/>
            <a:ext cx="3992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Inter"/>
              </a:rPr>
              <a:t>Random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3700462"/>
            <a:ext cx="3136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Escalate 10% of queries completely at random.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5125" y="4195762"/>
            <a:ext cx="3802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D4ED8"/>
                </a:solidFill>
                <a:latin typeface="Inter"/>
              </a:rPr>
              <a:t>Proves the router has genuine selectivity.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5375" y="3514725"/>
            <a:ext cx="39466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Theoretical Ceilings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5375" y="3790950"/>
            <a:ext cx="3802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Always-rerank ceiling and oracle routing.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5375" y="4105275"/>
            <a:ext cx="3802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Inter"/>
              </a:rPr>
              <a:t>Quantifies theoretical headroom.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776537"/>
            <a:ext cx="5238750" cy="2247900"/>
          </a:xfrm>
          <a:prstGeom prst="roundRect">
            <a:avLst>
              <a:gd name="adj" fmla="val 4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76537"/>
            <a:ext cx="5238750" cy="2247900"/>
          </a:xfrm>
          <a:prstGeom prst="roundRect">
            <a:avLst>
              <a:gd name="adj" fmla="val 4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EXECUTION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62000"/>
            <a:ext cx="115062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Team Workstreams &amp; De-risking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52762"/>
            <a:ext cx="61507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3-Person Parallel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3675" y="3052762"/>
            <a:ext cx="56483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Risk Mitigation &amp; Kill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405187"/>
            <a:ext cx="5857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Person A: Retrieval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595687"/>
            <a:ext cx="585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BM25, dense index builds, MiniLM cross-encoder.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890962"/>
            <a:ext cx="5857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Person B: Ground Truth &amp;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081462"/>
            <a:ext cx="585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Per-route nDCG, oracle headroom check, significance tests.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376737"/>
            <a:ext cx="5857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Person C: Router &amp; Sweeps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567237"/>
            <a:ext cx="585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Feature pipelines, LightGBM, confidence threshold curves.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3405187"/>
            <a:ext cx="56483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Inter"/>
              </a:rPr>
              <a:t>Week-2 Headroom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75" y="3595687"/>
            <a:ext cx="56483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If oracle headroom is &lt;2 nDCG points, re-scope dataset immediately.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3890962"/>
            <a:ext cx="56483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Inter"/>
              </a:rPr>
              <a:t>Small Query Set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4081462"/>
            <a:ext cx="56483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Use k-fold cross-validation with paired bootstrap testing.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4376737"/>
            <a:ext cx="56483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Inter"/>
              </a:rPr>
              <a:t>Compute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675" y="4567237"/>
            <a:ext cx="56483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Sub-60k document collections run smoothly on free GPUs.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52912" y="4130873"/>
            <a:ext cx="3686175" cy="438150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6887" y="2288827"/>
            <a:ext cx="10382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2563EB"/>
                </a:solidFill>
                <a:latin typeface="Inter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6660" y="2593627"/>
            <a:ext cx="9438679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Inter"/>
              </a:rPr>
              <a:t>Predictable Quality at Hybrid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245048"/>
            <a:ext cx="8096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475569"/>
                </a:solidFill>
                <a:latin typeface="Inter"/>
              </a:rPr>
              <a:t>A practical, budget-tunable routing framework for production search and enterprise RAG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7421" y="4254698"/>
            <a:ext cx="3917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Inter"/>
              </a:rPr>
              <a:t>Open Discussion • Questions &amp; Comments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